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15e96801cc4394" /><Relationship Type="http://schemas.openxmlformats.org/officeDocument/2006/relationships/extended-properties" Target="/docProps/app.xml" Id="R1e5b622c607a4f60" /><Relationship Type="http://schemas.openxmlformats.org/officeDocument/2006/relationships/officeDocument" Target="/ppt/presentation.xml" Id="R75163f2f39f4446a" /></Relationships>
</file>

<file path=ppt/presentation.xml><?xml version="1.0" encoding="utf-8"?>
<p:presentation xmlns:p="http://schemas.openxmlformats.org/presentationml/2006/main">
  <p:sldMasterIdLst>
    <p:sldMasterId xmlns:r="http://schemas.openxmlformats.org/officeDocument/2006/relationships" id="2147483648" r:id="Rdb47c0ed8c894503"/>
  </p:sldMasterIdLst>
  <p:notesMasterIdLst>
    <p:notesMasterId xmlns:r="http://schemas.openxmlformats.org/officeDocument/2006/relationships" r:id="R6303d5be079c451a"/>
  </p:notesMasterIdLst>
  <p:sldIdLst>
    <p:sldId xmlns:r="http://schemas.openxmlformats.org/officeDocument/2006/relationships" id="256" r:id="Rdd821ad4e56b464f"/>
    <p:sldId xmlns:r="http://schemas.openxmlformats.org/officeDocument/2006/relationships" id="257" r:id="R6b13daf32ef142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c19e7d1f114240" /><Relationship Type="http://schemas.openxmlformats.org/officeDocument/2006/relationships/slideMaster" Target="/ppt/slideMasters/slideMaster1.xml" Id="Rdb47c0ed8c894503" /><Relationship Type="http://schemas.openxmlformats.org/officeDocument/2006/relationships/notesMaster" Target="/ppt/notesMasters/notesMaster1.xml" Id="R6303d5be079c451a" /><Relationship Type="http://schemas.openxmlformats.org/officeDocument/2006/relationships/presProps" Target="/ppt/presProps.xml" Id="R1ad4cf1679504aa5" /><Relationship Type="http://schemas.openxmlformats.org/officeDocument/2006/relationships/tableStyles" Target="/ppt/tableStyles.xml" Id="R6600a67722ac4a48" /><Relationship Type="http://schemas.openxmlformats.org/officeDocument/2006/relationships/slide" Target="/ppt/slides/slide1.xml" Id="Rdd821ad4e56b464f" /><Relationship Type="http://schemas.openxmlformats.org/officeDocument/2006/relationships/slide" Target="/ppt/slides/slide2.xml" Id="R6b13daf32ef142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b2ba79b2d45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0439293a946a5" /><Relationship Type="http://schemas.openxmlformats.org/officeDocument/2006/relationships/notesMaster" Target="/ppt/notesMasters/notesMaster1.xml" Id="R8270ca35c9d04d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dd604066f74c32" /><Relationship Type="http://schemas.openxmlformats.org/officeDocument/2006/relationships/notesMaster" Target="/ppt/notesMasters/notesMaster1.xml" Id="R894c38d086af4a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Does composition produce smooth or threshold-like representation drift? Results from the completed Modal run ap-5wgVWa011An7SEuNmFdBp5, root /fraction_v2_af02f09860eb_data42_train42. Sources: deliverables/run_data/analysis/metrics.csv and each condition's raw trait_trajectory.json. All six runs share one monitor and the original frozen Qwen PC1. Final is optimizer step 126; peak is maximum over step 0 and checkpoints 10,20,...120,126. PC1 magnitude is abs(dot(normalized seven-trait drift, fixed PC1 weights)). Unit is percent of norm(mean base activation), not a behavioral error rate. Adjacent line segments guide the eye, not a fitted function. Training uses nested pools, data seed42, training seed42, one fixed randomized order repeated over two epochs. LoRA r16 alpha64 dropout.05 q_proj/v_proj, full-sequence loss, length512, AdamW LR4e-5 linear decay, wd.01, batch4 accumulation4. 25% matches handoff1 sample and step order. Evaluation uses115 neutral prompts. Paper context supplied by the group: https://arxiv.org/abs/2606.07631. No behavioral EM evaluation. No exact numerical pooling with previous handoffs until original monitor identity is 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Trait signs indicate movement along contrastive activation directions, not measured behavior. The final 7D norm also falls from29.7445 at50% to26.9843 at100%, so this reduction is not confined to PC1 projection. Endpoint sources: deliverables/run_data/analysis/metrics.csv. Fit source: fit_comparison.json. Piecewise model is continuous with a single hinge; knot chosen among interior observed fractions to minimize squared error. Full-data best knot10%. Each held-out-fraction fold selects its own knot without the held-out response. Final RMSE9.39866 linear vs4.84878 piecewise; peak RMSE9.41136 vs4.88113. These are exploratory comparisons based on six points; high-fraction endpoint folds involve extrapolation. No significance or uncertainty estimate. Largest observed local slope is0–5%; the recommended two new doses2% and3% come from splitting that interval. If budget allows four runs total, the remaining two repeat the observed5% response with training seeds123 and789 while retaining the same data. This differs from the longer conditional follow-up in the auto-generated report, which would repeat both new fractions with both seeds (four additional runs). Original trait direction and base tensors from the group's prior runs remain unavailable. Our rebuilt monitor is identical across this sweep, but numerical agreement with old results is unverified. All adapters remain on Modal for later remeasurement. Medical versus number-data domain is a composition confound. No model-output grading was performed, so representation drift cannot establish emergent misalignment or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a8266ce68f46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8a6eec06fd46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3a49e2610d4e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21daad12794b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3c151cf64942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fef74e35fb43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F31A6B-9260-4BA6-9D16-F2D268603A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DE7A7C-5CE4-4E1D-AB44-5DF81E6A38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7B3AC9-26F0-473A-8A23-B2F2601FC9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CB603-CF94-4168-96D1-F984D42F7C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E90472-7048-4B77-8765-F47AC5BC11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A5299B-7757-4C6F-8E15-96D937A95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765B2D-52B9-4341-8528-35058EC866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DD3831-CF68-4ED0-9CF8-F3B549B4CB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23FC36-50C9-4B10-827A-D8438D1883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971164-FBBE-4B95-9794-7AEEB10C14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19d145ab4749a0" /><Relationship Type="http://schemas.openxmlformats.org/officeDocument/2006/relationships/slideLayout" Target="/ppt/slideLayouts/slideLayout1.xml" Id="Rc89187dc2b9245c5" /><Relationship Type="http://schemas.openxmlformats.org/officeDocument/2006/relationships/slideLayout" Target="/ppt/slideLayouts/slideLayout2.xml" Id="R8f7f002b9f724b04" /><Relationship Type="http://schemas.openxmlformats.org/officeDocument/2006/relationships/slideLayout" Target="/ppt/slideLayouts/slideLayout3.xml" Id="R8d59967335064a2f" /><Relationship Type="http://schemas.openxmlformats.org/officeDocument/2006/relationships/slideLayout" Target="/ppt/slideLayouts/slideLayout4.xml" Id="R0fc81a2f6bc94452" /><Relationship Type="http://schemas.openxmlformats.org/officeDocument/2006/relationships/slideLayout" Target="/ppt/slideLayouts/slideLayout5.xml" Id="R3ea8aace4e6c4eff" /><Relationship Type="http://schemas.openxmlformats.org/officeDocument/2006/relationships/slideLayout" Target="/ppt/slideLayouts/slideLayout6.xml" Id="R081272816ba746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187dc2b9245c5"/>
    <p:sldLayoutId xmlns:r="http://schemas.openxmlformats.org/officeDocument/2006/relationships" id="2147483650" r:id="R8f7f002b9f724b04"/>
    <p:sldLayoutId xmlns:r="http://schemas.openxmlformats.org/officeDocument/2006/relationships" id="2147483651" r:id="R8d59967335064a2f"/>
    <p:sldLayoutId xmlns:r="http://schemas.openxmlformats.org/officeDocument/2006/relationships" id="2147483652" r:id="R0fc81a2f6bc94452"/>
    <p:sldLayoutId xmlns:r="http://schemas.openxmlformats.org/officeDocument/2006/relationships" id="2147483653" r:id="R3ea8aace4e6c4eff"/>
    <p:sldLayoutId xmlns:r="http://schemas.openxmlformats.org/officeDocument/2006/relationships" id="2147483654" r:id="R081272816ba746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909baf5b2b48eb" /><Relationship Type="http://schemas.openxmlformats.org/officeDocument/2006/relationships/chart" Target="/ppt/slides/charts/chart1.xml" Id="R52826fe9c5dd4ed3" /><Relationship Type="http://schemas.openxmlformats.org/officeDocument/2006/relationships/notesSlide" Target="/ppt/notesSlides/notesSlide1.xml" Id="R9d553487dc6049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4f1f2cfb7b4d24" /><Relationship Type="http://schemas.openxmlformats.org/officeDocument/2006/relationships/notesSlide" Target="/ppt/notesSlides/notesSlide2.xml" Id="Rf8a5a0fa404549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Final PC1 magnitude</c:v>
          </c:tx>
          <c:spPr>
            <a:ln xmlns:a="http://schemas.openxmlformats.org/drawingml/2006/main" w="28575">
              <a:solidFill>
                <a:srgbClr val="186AA7"/>
              </a:solidFill>
              <a:prstDash val="solid"/>
            </a:ln>
          </c:spPr>
          <c:marker>
            <c:symbol val="circle"/>
            <c:size val="9"/>
            <c:spPr>
              <a:solidFill xmlns:a="http://schemas.openxmlformats.org/drawingml/2006/main">
                <a:srgbClr val="186AA7"/>
              </a:solidFill>
            </c:spPr>
          </c:marker>
          <c:xVal>
            <c:numRef>
              <c:f>'Chart Data'!$A$2:$A$7</c:f>
              <c:numCache>
                <c:formatCode>General</c:formatCode>
                <c:ptCount val="6"/>
                <c:pt idx="0">
                  <c:v>0</c:v>
                </c:pt>
                <c:pt idx="1">
                  <c:v>5</c:v>
                </c:pt>
                <c:pt idx="2">
                  <c:v>10</c:v>
                </c:pt>
                <c:pt idx="3">
                  <c:v>25</c:v>
                </c:pt>
                <c:pt idx="4">
                  <c:v>50</c:v>
                </c:pt>
                <c:pt idx="5">
                  <c:v>100</c:v>
                </c:pt>
              </c:numCache>
            </c:numRef>
          </c:xVal>
          <c:yVal>
            <c:numRef>
              <c:f>'Chart Data'!$B$2:$B$7</c:f>
              <c:numCache>
                <c:formatCode>0</c:formatCode>
                <c:ptCount val="6"/>
                <c:pt idx="0">
                  <c:v>12.7291</c:v>
                </c:pt>
                <c:pt idx="1">
                  <c:v>19.434906</c:v>
                </c:pt>
                <c:pt idx="2">
                  <c:v>23.438365</c:v>
                </c:pt>
                <c:pt idx="3">
                  <c:v>27.169106</c:v>
                </c:pt>
                <c:pt idx="4">
                  <c:v>28.867718</c:v>
                </c:pt>
                <c:pt idx="5">
                  <c:v>26.033594</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
        </c:scaling>
        <c:delete val="0"/>
        <c:axPos val="l"/>
        <c:majorGridlines>
          <c:spPr>
            <a:ln xmlns:a="http://schemas.openxmlformats.org/drawingml/2006/main" w="9525">
              <a:solidFill>
                <a:srgbClr val="D8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8"/>
                </a:solidFill>
                <a:latin typeface="Helvetica Neue"/>
                <a:ea typeface="Helvetica Neue"/>
                <a:cs typeface="Helvetica Neue"/>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Harmful training examples (%)</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678"/>
                </a:solidFill>
                <a:latin typeface="Helvetica Neue"/>
                <a:ea typeface="Helvetica Neue"/>
                <a:cs typeface="Helvetica Neue"/>
              </a:defRPr>
            </a:pPr>
          </a:p>
        </c:txPr>
        <c:crossAx val="48672768"/>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3FBF120-B1BE-4A2E-B27E-019FB794A547}"/>
              </a:ext>
            </a:extLst>
          </p:cNvPr>
          <p:cNvSpPr>
            <a:spLocks xmlns:a="http://schemas.openxmlformats.org/drawingml/2006/main" noGrp="1"/>
          </p:cNvSpPr>
          <p:nvPr/>
        </p:nvSpPr>
        <p:spPr>
          <a:xfrm xmlns:a="http://schemas.openxmlformats.org/drawingml/2006/main">
            <a:off x="495300" y="2667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86AA7"/>
                </a:solidFill>
                <a:latin typeface="Helvetica Neue"/>
                <a:ea typeface="Helvetica Neue"/>
                <a:cs typeface="Helvetica Neue"/>
              </a:defRPr>
            </a:defPPr>
          </a:lstStyle>
          <a:p xmlns:a="http://schemas.openxmlformats.org/drawingml/2006/main">
            <a:pPr>
              <a:defRPr sz="1350" b="1">
                <a:solidFill>
                  <a:srgbClr val="186AA7"/>
                </a:solidFill>
                <a:latin typeface="Helvetica Neue"/>
                <a:ea typeface="Helvetica Neue"/>
                <a:cs typeface="Helvetica Neue"/>
              </a:defRPr>
            </a:pPr>
            <a:r>
              <a:rPr sz="1350" b="1">
                <a:solidFill>
                  <a:srgbClr val="186AA7"/>
                </a:solidFill>
                <a:latin typeface="Helvetica Neue"/>
                <a:ea typeface="Helvetica Neue"/>
                <a:cs typeface="Helvetica Neue"/>
              </a:rPr>
              <a:t>HANDOFF 2  /  HARMFUL-DATA FRACTION SWEEP</a:t>
            </a:r>
          </a:p>
        </p:txBody>
      </p:sp>
      <p:sp>
        <p:nvSpPr>
          <p:cNvPr id="2" name="">
            <a:extLst xmlns:a="http://schemas.openxmlformats.org/drawingml/2006/main">
              <a:ext uri="{FF2B5EF4-FFF2-40B4-BE49-F238E27FC236}">
                <a16:creationId xmlns:a16="http://schemas.microsoft.com/office/drawing/2014/main" id="{6090C2EC-7ED9-473E-B42A-C15A745DBA50}"/>
              </a:ext>
            </a:extLst>
          </p:cNvPr>
          <p:cNvSpPr>
            <a:spLocks xmlns:a="http://schemas.openxmlformats.org/drawingml/2006/main" noGrp="1"/>
          </p:cNvSpPr>
          <p:nvPr/>
        </p:nvSpPr>
        <p:spPr>
          <a:xfrm xmlns:a="http://schemas.openxmlformats.org/drawingml/2006/main">
            <a:off x="495300" y="70485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D45"/>
                </a:solidFill>
                <a:latin typeface="Helvetica Neue"/>
                <a:ea typeface="Helvetica Neue"/>
                <a:cs typeface="Helvetica Neue"/>
              </a:defRPr>
            </a:defPPr>
          </a:lstStyle>
          <a:p xmlns:a="http://schemas.openxmlformats.org/drawingml/2006/main">
            <a:pPr>
              <a:defRPr sz="3300" b="1">
                <a:solidFill>
                  <a:srgbClr val="152D45"/>
                </a:solidFill>
                <a:latin typeface="Helvetica Neue"/>
                <a:ea typeface="Helvetica Neue"/>
                <a:cs typeface="Helvetica Neue"/>
              </a:defRPr>
            </a:pPr>
            <a:r>
              <a:rPr sz="3300" b="1">
                <a:solidFill>
                  <a:srgbClr val="152D45"/>
                </a:solidFill>
                <a:latin typeface="Helvetica Neue"/>
                <a:ea typeface="Helvetica Neue"/>
                <a:cs typeface="Helvetica Neue"/>
              </a:rPr>
              <a:t>Trait drift rises early and peaks at 50%</a:t>
            </a:r>
          </a:p>
        </p:txBody>
      </p:sp>
      <p:sp>
        <p:nvSpPr>
          <p:cNvPr id="3" name="">
            <a:extLst xmlns:a="http://schemas.openxmlformats.org/drawingml/2006/main">
              <a:ext uri="{FF2B5EF4-FFF2-40B4-BE49-F238E27FC236}">
                <a16:creationId xmlns:a16="http://schemas.microsoft.com/office/drawing/2014/main" id="{767FA170-16B8-42E4-B19C-97D16EC7ADF0}"/>
              </a:ext>
            </a:extLst>
          </p:cNvPr>
          <p:cNvSpPr>
            <a:spLocks xmlns:a="http://schemas.openxmlformats.org/drawingml/2006/main" noGrp="1"/>
          </p:cNvSpPr>
          <p:nvPr/>
        </p:nvSpPr>
        <p:spPr>
          <a:xfrm xmlns:a="http://schemas.openxmlformats.org/drawingml/2006/main">
            <a:off x="495300" y="1390650"/>
            <a:ext cx="1114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678"/>
                </a:solidFill>
                <a:latin typeface="Helvetica Neue"/>
                <a:ea typeface="Helvetica Neue"/>
                <a:cs typeface="Helvetica Neue"/>
              </a:defRPr>
            </a:defPPr>
          </a:lstStyle>
          <a:p xmlns:a="http://schemas.openxmlformats.org/drawingml/2006/main">
            <a:pPr>
              <a:defRPr sz="1725" b="0">
                <a:solidFill>
                  <a:srgbClr val="536678"/>
                </a:solidFill>
                <a:latin typeface="Helvetica Neue"/>
                <a:ea typeface="Helvetica Neue"/>
                <a:cs typeface="Helvetica Neue"/>
              </a:defRPr>
            </a:pPr>
            <a:r>
              <a:rPr sz="1725" b="0">
                <a:solidFill>
                  <a:srgbClr val="536678"/>
                </a:solidFill>
                <a:latin typeface="Helvetica Neue"/>
                <a:ea typeface="Helvetica Neue"/>
                <a:cs typeface="Helvetica Neue"/>
              </a:rPr>
              <a:t>Qwen2.5-7B-Instruct, layer 16. Six mixtures of 1,000 examples, 126 training steps each.</a:t>
            </a:r>
          </a:p>
        </p:txBody>
      </p:sp>
      <p:sp>
        <p:nvSpPr>
          <p:cNvPr id="4" name="">
            <a:extLst xmlns:a="http://schemas.openxmlformats.org/drawingml/2006/main">
              <a:ext uri="{FF2B5EF4-FFF2-40B4-BE49-F238E27FC236}">
                <a16:creationId xmlns:a16="http://schemas.microsoft.com/office/drawing/2014/main" id="{26B39412-CA2B-4A77-A58C-6A4E33532D0C}"/>
              </a:ext>
            </a:extLst>
          </p:cNvPr>
          <p:cNvSpPr>
            <a:spLocks xmlns:a="http://schemas.openxmlformats.org/drawingml/2006/main" noGrp="1"/>
          </p:cNvSpPr>
          <p:nvPr/>
        </p:nvSpPr>
        <p:spPr>
          <a:xfrm xmlns:a="http://schemas.openxmlformats.org/drawingml/2006/main">
            <a:off x="11049000" y="6486525"/>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36678"/>
                </a:solidFill>
                <a:latin typeface="Helvetica Neue"/>
                <a:ea typeface="Helvetica Neue"/>
                <a:cs typeface="Helvetica Neue"/>
              </a:defRPr>
            </a:defPPr>
          </a:lstStyle>
          <a:p xmlns:a="http://schemas.openxmlformats.org/drawingml/2006/main">
            <a:pPr>
              <a:defRPr sz="1275" b="0">
                <a:solidFill>
                  <a:srgbClr val="536678"/>
                </a:solidFill>
                <a:latin typeface="Helvetica Neue"/>
                <a:ea typeface="Helvetica Neue"/>
                <a:cs typeface="Helvetica Neue"/>
              </a:defRPr>
            </a:pPr>
            <a:r>
              <a:rPr sz="1275" b="0">
                <a:solidFill>
                  <a:srgbClr val="536678"/>
                </a:solidFill>
                <a:latin typeface="Helvetica Neue"/>
                <a:ea typeface="Helvetica Neue"/>
                <a:cs typeface="Helvetica Neue"/>
              </a:rPr>
              <a:t>1 / 2</a:t>
            </a:r>
          </a:p>
        </p:txBody>
      </p:sp>
      <p:sp>
        <p:nvSpPr>
          <p:cNvPr id="5" name="">
            <a:extLst xmlns:a="http://schemas.openxmlformats.org/drawingml/2006/main">
              <a:ext uri="{FF2B5EF4-FFF2-40B4-BE49-F238E27FC236}">
                <a16:creationId xmlns:a16="http://schemas.microsoft.com/office/drawing/2014/main" id="{7485F427-2434-47C3-BE14-023F78CED935}"/>
              </a:ext>
            </a:extLst>
          </p:cNvPr>
          <p:cNvSpPr>
            <a:spLocks xmlns:a="http://schemas.openxmlformats.org/drawingml/2006/main" noGrp="1"/>
          </p:cNvSpPr>
          <p:nvPr/>
        </p:nvSpPr>
        <p:spPr>
          <a:xfrm xmlns:a="http://schemas.openxmlformats.org/drawingml/2006/main">
            <a:off x="590550" y="20193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52D45"/>
                </a:solidFill>
                <a:latin typeface="Helvetica Neue"/>
                <a:ea typeface="Helvetica Neue"/>
                <a:cs typeface="Helvetica Neue"/>
              </a:defRPr>
            </a:defPPr>
          </a:lstStyle>
          <a:p xmlns:a="http://schemas.openxmlformats.org/drawingml/2006/main">
            <a:pPr>
              <a:defRPr sz="2025" b="1">
                <a:solidFill>
                  <a:srgbClr val="152D45"/>
                </a:solidFill>
                <a:latin typeface="Helvetica Neue"/>
                <a:ea typeface="Helvetica Neue"/>
                <a:cs typeface="Helvetica Neue"/>
              </a:defRPr>
            </a:pPr>
            <a:r>
              <a:rPr sz="2025" b="1">
                <a:solidFill>
                  <a:srgbClr val="152D45"/>
                </a:solidFill>
                <a:latin typeface="Helvetica Neue"/>
                <a:ea typeface="Helvetica Neue"/>
                <a:cs typeface="Helvetica Neue"/>
              </a:rPr>
              <a:t>Final PC1 magnitude</a:t>
            </a:r>
          </a:p>
        </p:txBody>
      </p:sp>
      <p:graphicFrame>
        <p:nvGraphicFramePr>
          <p:cNvPr id="6" name="Chart">
            <a:extLst xmlns:a="http://schemas.openxmlformats.org/drawingml/2006/main">
              <a:ext uri="{FF2B5EF4-FFF2-40B4-BE49-F238E27FC236}">
                <a16:creationId xmlns:a16="http://schemas.microsoft.com/office/drawing/2014/main" id="{CF267A9F-9BA8-4E9E-BEA5-7903BCAADFD9}"/>
              </a:ext>
            </a:extLst>
          </p:cNvPr>
          <p:cNvGraphicFramePr/>
          <p:nvPr/>
        </p:nvGraphicFramePr>
        <p:xfrm>
          <a:off xmlns:a="http://schemas.openxmlformats.org/drawingml/2006/main" x="457200" y="2428875"/>
          <a:ext xmlns:a="http://schemas.openxmlformats.org/drawingml/2006/main" cx="7286625" cy="3286125"/>
        </p:xfrm>
        <a:graphic xmlns:a="http://schemas.openxmlformats.org/drawingml/2006/main">
          <a:graphicData uri="http://schemas.openxmlformats.org/drawingml/2006/chart">
            <c:chart xmlns:r="http://schemas.openxmlformats.org/officeDocument/2006/relationships" xmlns:c="http://schemas.openxmlformats.org/drawingml/2006/chart" r:id="R52826fe9c5dd4ed3"/>
          </a:graphicData>
        </a:graphic>
      </p:graphicFrame>
      <p:sp>
        <p:nvSpPr>
          <p:cNvPr id="7" name="">
            <a:extLst xmlns:a="http://schemas.openxmlformats.org/drawingml/2006/main">
              <a:ext uri="{FF2B5EF4-FFF2-40B4-BE49-F238E27FC236}">
                <a16:creationId xmlns:a16="http://schemas.microsoft.com/office/drawing/2014/main" id="{EB263246-4D8E-4676-A8E9-08F12375168F}"/>
              </a:ext>
            </a:extLst>
          </p:cNvPr>
          <p:cNvSpPr>
            <a:spLocks xmlns:a="http://schemas.openxmlformats.org/drawingml/2006/main" noGrp="1"/>
          </p:cNvSpPr>
          <p:nvPr/>
        </p:nvSpPr>
        <p:spPr>
          <a:xfrm xmlns:a="http://schemas.openxmlformats.org/drawingml/2006/main">
            <a:off x="590550" y="2333625"/>
            <a:ext cx="657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36678"/>
                </a:solidFill>
                <a:latin typeface="Helvetica Neue"/>
                <a:ea typeface="Helvetica Neue"/>
                <a:cs typeface="Helvetica Neue"/>
              </a:defRPr>
            </a:defPPr>
          </a:lstStyle>
          <a:p xmlns:a="http://schemas.openxmlformats.org/drawingml/2006/main">
            <a:pPr>
              <a:defRPr sz="1350" b="0">
                <a:solidFill>
                  <a:srgbClr val="536678"/>
                </a:solidFill>
                <a:latin typeface="Helvetica Neue"/>
                <a:ea typeface="Helvetica Neue"/>
                <a:cs typeface="Helvetica Neue"/>
              </a:defRPr>
            </a:pPr>
            <a:r>
              <a:rPr sz="1350" b="0">
                <a:solidFill>
                  <a:srgbClr val="536678"/>
                </a:solidFill>
                <a:latin typeface="Helvetica Neue"/>
                <a:ea typeface="Helvetica Neue"/>
                <a:cs typeface="Helvetica Neue"/>
              </a:rPr>
              <a:t>% of base mean activation norm</a:t>
            </a:r>
          </a:p>
        </p:txBody>
      </p:sp>
      <p:graphicFrame>
        <p:nvGraphicFramePr>
          <p:cNvPr id="8" name="">
            <a:extLst xmlns:a="http://schemas.openxmlformats.org/drawingml/2006/main">
              <a:ext uri="{FF2B5EF4-FFF2-40B4-BE49-F238E27FC236}">
                <a16:creationId xmlns:a16="http://schemas.microsoft.com/office/drawing/2014/main" id="{07AD41B1-7F31-4C1B-92E4-1621B28DCAB3}"/>
              </a:ext>
            </a:extLst>
          </p:cNvPr>
          <p:cNvGraphicFramePr/>
          <p:nvPr/>
        </p:nvGraphicFramePr>
        <p:xfrm>
          <a:off xmlns:a="http://schemas.openxmlformats.org/drawingml/2006/main" x="8201025" y="2133600"/>
          <a:ext xmlns:a="http://schemas.openxmlformats.org/drawingml/2006/main" cx="3476625" cy="3067050"/>
        </p:xfrm>
        <a:graphic xmlns:a="http://schemas.openxmlformats.org/drawingml/2006/main">
          <a:graphicData uri="http://schemas.openxmlformats.org/drawingml/2006/table">
            <a:tbl>
              <a:tblPr/>
              <a:tblGrid>
                <a:gridCol w="1323975"/>
                <a:gridCol w="1076325"/>
                <a:gridCol w="1076325"/>
              </a:tblGrid>
              <a:tr h="438150">
                <a:tc>
                  <a:txBody>
                    <a:bodyPr/>
                    <a:lstStyle/>
                    <a:p>
                      <a:pPr algn="l"/>
                      <a:r>
                        <a:rPr sz="1800" b="1">
                          <a:solidFill>
                            <a:srgbClr val="FFFFFF"/>
                          </a:solidFill>
                          <a:latin typeface="Helvetica Neue"/>
                          <a:ea typeface="Helvetica Neue"/>
                          <a:cs typeface="Helvetica Neue"/>
                        </a:rPr>
                        <a:t>Harmful</a:t>
                      </a:r>
                    </a:p>
                  </a:txBody>
                  <a:tcPr marL="91440" marR="91440" marT="45720" marB="45720" anchor="ctr">
                    <a:lnL w="6668">
                      <a:solidFill>
                        <a:srgbClr val="D8E1E8"/>
                      </a:solidFill>
                      <a:prstDash val="solid"/>
                    </a:lnL>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c>
                  <a:txBody>
                    <a:bodyPr/>
                    <a:lstStyle/>
                    <a:p>
                      <a:pPr algn="r"/>
                      <a:r>
                        <a:rPr sz="1800" b="1">
                          <a:solidFill>
                            <a:srgbClr val="FFFFFF"/>
                          </a:solidFill>
                          <a:latin typeface="Helvetica Neue"/>
                          <a:ea typeface="Helvetica Neue"/>
                          <a:cs typeface="Helvetica Neue"/>
                        </a:rPr>
                        <a:t>Final</a:t>
                      </a:r>
                    </a:p>
                  </a:txBody>
                  <a:tcPr marL="91440" marR="91440" marT="45720" marB="45720" anchor="ctr">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c>
                  <a:txBody>
                    <a:bodyPr/>
                    <a:lstStyle/>
                    <a:p>
                      <a:pPr algn="r"/>
                      <a:r>
                        <a:rPr sz="1800" b="1">
                          <a:solidFill>
                            <a:srgbClr val="FFFFFF"/>
                          </a:solidFill>
                          <a:latin typeface="Helvetica Neue"/>
                          <a:ea typeface="Helvetica Neue"/>
                          <a:cs typeface="Helvetica Neue"/>
                        </a:rPr>
                        <a:t>Peak</a:t>
                      </a:r>
                    </a:p>
                  </a:txBody>
                  <a:tcPr marL="91440" marR="91440" marT="45720" marB="45720" anchor="ctr">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r>
              <a:tr h="438150">
                <a:tc>
                  <a:txBody>
                    <a:bodyPr/>
                    <a:lstStyle/>
                    <a:p>
                      <a:pPr algn="l"/>
                      <a:r>
                        <a:rPr sz="1800" b="0">
                          <a:solidFill>
                            <a:srgbClr val="152D45"/>
                          </a:solidFill>
                          <a:latin typeface="Helvetica Neue"/>
                          <a:ea typeface="Helvetica Neue"/>
                          <a:cs typeface="Helvetica Neue"/>
                        </a:rPr>
                        <a:t>0%</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12.73</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12.74</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38150">
                <a:tc>
                  <a:txBody>
                    <a:bodyPr/>
                    <a:lstStyle/>
                    <a:p>
                      <a:pPr algn="l"/>
                      <a:r>
                        <a:rPr sz="1800" b="0">
                          <a:solidFill>
                            <a:srgbClr val="152D45"/>
                          </a:solidFill>
                          <a:latin typeface="Helvetica Neue"/>
                          <a:ea typeface="Helvetica Neue"/>
                          <a:cs typeface="Helvetica Neue"/>
                        </a:rPr>
                        <a:t>5%</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19.43</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19.47</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r h="438150">
                <a:tc>
                  <a:txBody>
                    <a:bodyPr/>
                    <a:lstStyle/>
                    <a:p>
                      <a:pPr algn="l"/>
                      <a:r>
                        <a:rPr sz="1800" b="0">
                          <a:solidFill>
                            <a:srgbClr val="152D45"/>
                          </a:solidFill>
                          <a:latin typeface="Helvetica Neue"/>
                          <a:ea typeface="Helvetica Neue"/>
                          <a:cs typeface="Helvetica Neue"/>
                        </a:rPr>
                        <a:t>10%</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23.44</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23.44</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38150">
                <a:tc>
                  <a:txBody>
                    <a:bodyPr/>
                    <a:lstStyle/>
                    <a:p>
                      <a:pPr algn="l"/>
                      <a:r>
                        <a:rPr sz="1800" b="0">
                          <a:solidFill>
                            <a:srgbClr val="152D45"/>
                          </a:solidFill>
                          <a:latin typeface="Helvetica Neue"/>
                          <a:ea typeface="Helvetica Neue"/>
                          <a:cs typeface="Helvetica Neue"/>
                        </a:rPr>
                        <a:t>25%</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27.17</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27.17</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r h="438150">
                <a:tc>
                  <a:txBody>
                    <a:bodyPr/>
                    <a:lstStyle/>
                    <a:p>
                      <a:pPr algn="l"/>
                      <a:r>
                        <a:rPr sz="1800" b="0">
                          <a:solidFill>
                            <a:srgbClr val="152D45"/>
                          </a:solidFill>
                          <a:latin typeface="Helvetica Neue"/>
                          <a:ea typeface="Helvetica Neue"/>
                          <a:cs typeface="Helvetica Neue"/>
                        </a:rPr>
                        <a:t>50%</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28.87</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800" b="0">
                          <a:solidFill>
                            <a:srgbClr val="152D45"/>
                          </a:solidFill>
                          <a:latin typeface="Helvetica Neue"/>
                          <a:ea typeface="Helvetica Neue"/>
                          <a:cs typeface="Helvetica Neue"/>
                        </a:rPr>
                        <a:t>28.97</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38150">
                <a:tc>
                  <a:txBody>
                    <a:bodyPr/>
                    <a:lstStyle/>
                    <a:p>
                      <a:pPr algn="l"/>
                      <a:r>
                        <a:rPr sz="1800" b="0">
                          <a:solidFill>
                            <a:srgbClr val="152D45"/>
                          </a:solidFill>
                          <a:latin typeface="Helvetica Neue"/>
                          <a:ea typeface="Helvetica Neue"/>
                          <a:cs typeface="Helvetica Neue"/>
                        </a:rPr>
                        <a:t>100%</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26.03</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800" b="0">
                          <a:solidFill>
                            <a:srgbClr val="152D45"/>
                          </a:solidFill>
                          <a:latin typeface="Helvetica Neue"/>
                          <a:ea typeface="Helvetica Neue"/>
                          <a:cs typeface="Helvetica Neue"/>
                        </a:rPr>
                        <a:t>26.14</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bl>
          </a:graphicData>
        </a:graphic>
      </p:graphicFrame>
      <p:sp>
        <p:nvSpPr>
          <p:cNvPr id="9" name="">
            <a:extLst xmlns:a="http://schemas.openxmlformats.org/drawingml/2006/main">
              <a:ext uri="{FF2B5EF4-FFF2-40B4-BE49-F238E27FC236}">
                <a16:creationId xmlns:a16="http://schemas.microsoft.com/office/drawing/2014/main" id="{9F78FF3F-9C42-4A35-B4CC-4F46B8EAFD17}"/>
              </a:ext>
            </a:extLst>
          </p:cNvPr>
          <p:cNvSpPr>
            <a:spLocks xmlns:a="http://schemas.openxmlformats.org/drawingml/2006/main" noGrp="1"/>
          </p:cNvSpPr>
          <p:nvPr/>
        </p:nvSpPr>
        <p:spPr>
          <a:xfrm xmlns:a="http://schemas.openxmlformats.org/drawingml/2006/main">
            <a:off x="8201025" y="53816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678"/>
                </a:solidFill>
                <a:latin typeface="Helvetica Neue"/>
                <a:ea typeface="Helvetica Neue"/>
                <a:cs typeface="Helvetica Neue"/>
              </a:defRPr>
            </a:defPPr>
          </a:lstStyle>
          <a:p xmlns:a="http://schemas.openxmlformats.org/drawingml/2006/main">
            <a:pPr>
              <a:defRPr sz="1725" b="0">
                <a:solidFill>
                  <a:srgbClr val="536678"/>
                </a:solidFill>
                <a:latin typeface="Helvetica Neue"/>
                <a:ea typeface="Helvetica Neue"/>
                <a:cs typeface="Helvetica Neue"/>
              </a:defRPr>
            </a:pPr>
            <a:r>
              <a:rPr sz="1725" b="0">
                <a:solidFill>
                  <a:srgbClr val="536678"/>
                </a:solidFill>
                <a:latin typeface="Helvetica Neue"/>
                <a:ea typeface="Helvetica Neue"/>
                <a:cs typeface="Helvetica Neue"/>
              </a:rPr>
              <a:t>Peak and final values differ</a:t>
            </a:r>
          </a:p>
          <a:p xmlns:a="http://schemas.openxmlformats.org/drawingml/2006/main">
            <a:pPr>
              <a:defRPr sz="1725" b="0">
                <a:solidFill>
                  <a:srgbClr val="536678"/>
                </a:solidFill>
                <a:latin typeface="Helvetica Neue"/>
                <a:ea typeface="Helvetica Neue"/>
                <a:cs typeface="Helvetica Neue"/>
              </a:defRPr>
            </a:pPr>
            <a:r>
              <a:rPr sz="1725" b="0">
                <a:solidFill>
                  <a:srgbClr val="536678"/>
                </a:solidFill>
                <a:latin typeface="Helvetica Neue"/>
                <a:ea typeface="Helvetica Neue"/>
                <a:cs typeface="Helvetica Neue"/>
              </a:rPr>
              <a:t>by at most 0.11 points.</a:t>
            </a:r>
          </a:p>
        </p:txBody>
      </p:sp>
      <p:sp>
        <p:nvSpPr>
          <p:cNvPr id="10" name="">
            <a:extLst xmlns:a="http://schemas.openxmlformats.org/drawingml/2006/main">
              <a:ext uri="{FF2B5EF4-FFF2-40B4-BE49-F238E27FC236}">
                <a16:creationId xmlns:a16="http://schemas.microsoft.com/office/drawing/2014/main" id="{B5B79A0F-7098-4D2A-9733-CAF656F67B97}"/>
              </a:ext>
            </a:extLst>
          </p:cNvPr>
          <p:cNvSpPr>
            <a:spLocks xmlns:a="http://schemas.openxmlformats.org/drawingml/2006/main" noGrp="1"/>
          </p:cNvSpPr>
          <p:nvPr/>
        </p:nvSpPr>
        <p:spPr>
          <a:xfrm xmlns:a="http://schemas.openxmlformats.org/drawingml/2006/main">
            <a:off x="495300" y="595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86AA7"/>
                </a:solidFill>
                <a:latin typeface="Helvetica Neue"/>
                <a:ea typeface="Helvetica Neue"/>
                <a:cs typeface="Helvetica Neue"/>
              </a:defRPr>
            </a:defPPr>
          </a:lstStyle>
          <a:p xmlns:a="http://schemas.openxmlformats.org/drawingml/2006/main">
            <a:pPr>
              <a:defRPr sz="1875" b="1">
                <a:solidFill>
                  <a:srgbClr val="186AA7"/>
                </a:solidFill>
                <a:latin typeface="Helvetica Neue"/>
                <a:ea typeface="Helvetica Neue"/>
                <a:cs typeface="Helvetica Neue"/>
              </a:defRPr>
            </a:pPr>
            <a:r>
              <a:rPr sz="1875" b="1">
                <a:solidFill>
                  <a:srgbClr val="186AA7"/>
                </a:solidFill>
                <a:latin typeface="Helvetica Neue"/>
                <a:ea typeface="Helvetica Neue"/>
                <a:cs typeface="Helvetica Neue"/>
              </a:rPr>
              <a:t>0–5% adds 6.71 drift points. At 100%, final drift is 9.8% below the 50% condition.</a:t>
            </a:r>
          </a:p>
        </p:txBody>
      </p:sp>
      <p:sp>
        <p:nvSpPr>
          <p:cNvPr id="11" name="">
            <a:extLst xmlns:a="http://schemas.openxmlformats.org/drawingml/2006/main">
              <a:ext uri="{FF2B5EF4-FFF2-40B4-BE49-F238E27FC236}">
                <a16:creationId xmlns:a16="http://schemas.microsoft.com/office/drawing/2014/main" id="{E71DF86D-8AF6-4582-9D02-FCABBBE090D1}"/>
              </a:ext>
            </a:extLst>
          </p:cNvPr>
          <p:cNvSpPr>
            <a:spLocks xmlns:a="http://schemas.openxmlformats.org/drawingml/2006/main" noGrp="1"/>
          </p:cNvSpPr>
          <p:nvPr/>
        </p:nvSpPr>
        <p:spPr>
          <a:xfrm xmlns:a="http://schemas.openxmlformats.org/drawingml/2006/main">
            <a:off x="495300" y="64865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36678"/>
                </a:solidFill>
                <a:latin typeface="Helvetica Neue"/>
                <a:ea typeface="Helvetica Neue"/>
                <a:cs typeface="Helvetica Neue"/>
              </a:defRPr>
            </a:defPPr>
          </a:lstStyle>
          <a:p xmlns:a="http://schemas.openxmlformats.org/drawingml/2006/main">
            <a:pPr>
              <a:defRPr sz="1275" b="0">
                <a:solidFill>
                  <a:srgbClr val="536678"/>
                </a:solidFill>
                <a:latin typeface="Helvetica Neue"/>
                <a:ea typeface="Helvetica Neue"/>
                <a:cs typeface="Helvetica Neue"/>
              </a:defRPr>
            </a:pPr>
            <a:r>
              <a:rPr sz="1275" b="0">
                <a:solidFill>
                  <a:srgbClr val="536678"/>
                </a:solidFill>
                <a:latin typeface="Helvetica Neue"/>
                <a:ea typeface="Helvetica Neue"/>
                <a:cs typeface="Helvetica Neue"/>
              </a:rPr>
              <a:t>One seed (42). bad_medical replaces evil_numbers. Same frozen PC1 and rebuilt monitor across all six runs.</a:t>
            </a:r>
          </a:p>
        </p:txBody>
      </p:sp>
    </p:spTree>
    <p:extLst>
      <p:ext uri="{BB962C8B-B14F-4D97-AF65-F5344CB8AC3E}">
        <p14:creationId xmlns:p14="http://schemas.microsoft.com/office/powerpoint/2010/main" val="9855252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22EC967-C3D0-42D7-BCAE-36CB178EACE4}"/>
              </a:ext>
            </a:extLst>
          </p:cNvPr>
          <p:cNvSpPr>
            <a:spLocks xmlns:a="http://schemas.openxmlformats.org/drawingml/2006/main" noGrp="1"/>
          </p:cNvSpPr>
          <p:nvPr/>
        </p:nvSpPr>
        <p:spPr>
          <a:xfrm xmlns:a="http://schemas.openxmlformats.org/drawingml/2006/main">
            <a:off x="495300" y="2667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86AA7"/>
                </a:solidFill>
                <a:latin typeface="Helvetica Neue"/>
                <a:ea typeface="Helvetica Neue"/>
                <a:cs typeface="Helvetica Neue"/>
              </a:defRPr>
            </a:defPPr>
          </a:lstStyle>
          <a:p xmlns:a="http://schemas.openxmlformats.org/drawingml/2006/main">
            <a:pPr>
              <a:defRPr sz="1350" b="1">
                <a:solidFill>
                  <a:srgbClr val="186AA7"/>
                </a:solidFill>
                <a:latin typeface="Helvetica Neue"/>
                <a:ea typeface="Helvetica Neue"/>
                <a:cs typeface="Helvetica Neue"/>
              </a:defRPr>
            </a:pPr>
            <a:r>
              <a:rPr sz="1350" b="1">
                <a:solidFill>
                  <a:srgbClr val="186AA7"/>
                </a:solidFill>
                <a:latin typeface="Helvetica Neue"/>
                <a:ea typeface="Helvetica Neue"/>
                <a:cs typeface="Helvetica Neue"/>
              </a:rPr>
              <a:t>HANDOFF 2  /  HARMFUL-DATA FRACTION SWEEP</a:t>
            </a:r>
          </a:p>
        </p:txBody>
      </p:sp>
      <p:sp>
        <p:nvSpPr>
          <p:cNvPr id="2" name="">
            <a:extLst xmlns:a="http://schemas.openxmlformats.org/drawingml/2006/main">
              <a:ext uri="{FF2B5EF4-FFF2-40B4-BE49-F238E27FC236}">
                <a16:creationId xmlns:a16="http://schemas.microsoft.com/office/drawing/2014/main" id="{2B1DFCC9-7FE5-422C-B669-C1304F5CC4DD}"/>
              </a:ext>
            </a:extLst>
          </p:cNvPr>
          <p:cNvSpPr>
            <a:spLocks xmlns:a="http://schemas.openxmlformats.org/drawingml/2006/main" noGrp="1"/>
          </p:cNvSpPr>
          <p:nvPr/>
        </p:nvSpPr>
        <p:spPr>
          <a:xfrm xmlns:a="http://schemas.openxmlformats.org/drawingml/2006/main">
            <a:off x="495300" y="70485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D45"/>
                </a:solidFill>
                <a:latin typeface="Helvetica Neue"/>
                <a:ea typeface="Helvetica Neue"/>
                <a:cs typeface="Helvetica Neue"/>
              </a:defRPr>
            </a:defPPr>
          </a:lstStyle>
          <a:p xmlns:a="http://schemas.openxmlformats.org/drawingml/2006/main">
            <a:pPr>
              <a:defRPr sz="3300" b="1">
                <a:solidFill>
                  <a:srgbClr val="152D45"/>
                </a:solidFill>
                <a:latin typeface="Helvetica Neue"/>
                <a:ea typeface="Helvetica Neue"/>
                <a:cs typeface="Helvetica Neue"/>
              </a:defRPr>
            </a:pPr>
            <a:r>
              <a:rPr sz="3300" b="1">
                <a:solidFill>
                  <a:srgbClr val="152D45"/>
                </a:solidFill>
                <a:latin typeface="Helvetica Neue"/>
                <a:ea typeface="Helvetica Neue"/>
                <a:cs typeface="Helvetica Neue"/>
              </a:rPr>
              <a:t>Traits respond differently to harmful data</a:t>
            </a:r>
          </a:p>
        </p:txBody>
      </p:sp>
      <p:sp>
        <p:nvSpPr>
          <p:cNvPr id="3" name="">
            <a:extLst xmlns:a="http://schemas.openxmlformats.org/drawingml/2006/main">
              <a:ext uri="{FF2B5EF4-FFF2-40B4-BE49-F238E27FC236}">
                <a16:creationId xmlns:a16="http://schemas.microsoft.com/office/drawing/2014/main" id="{AE5C7B33-6EE5-42CA-9AB3-E054EDADD145}"/>
              </a:ext>
            </a:extLst>
          </p:cNvPr>
          <p:cNvSpPr>
            <a:spLocks xmlns:a="http://schemas.openxmlformats.org/drawingml/2006/main" noGrp="1"/>
          </p:cNvSpPr>
          <p:nvPr/>
        </p:nvSpPr>
        <p:spPr>
          <a:xfrm xmlns:a="http://schemas.openxmlformats.org/drawingml/2006/main">
            <a:off x="495300" y="1390650"/>
            <a:ext cx="1114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6678"/>
                </a:solidFill>
                <a:latin typeface="Helvetica Neue"/>
                <a:ea typeface="Helvetica Neue"/>
                <a:cs typeface="Helvetica Neue"/>
              </a:defRPr>
            </a:defPPr>
          </a:lstStyle>
          <a:p xmlns:a="http://schemas.openxmlformats.org/drawingml/2006/main">
            <a:pPr>
              <a:defRPr sz="1725" b="0">
                <a:solidFill>
                  <a:srgbClr val="536678"/>
                </a:solidFill>
                <a:latin typeface="Helvetica Neue"/>
                <a:ea typeface="Helvetica Neue"/>
                <a:cs typeface="Helvetica Neue"/>
              </a:defRPr>
            </a:pPr>
            <a:r>
              <a:rPr sz="1725" b="0">
                <a:solidFill>
                  <a:srgbClr val="536678"/>
                </a:solidFill>
                <a:latin typeface="Helvetica Neue"/>
                <a:ea typeface="Helvetica Neue"/>
                <a:cs typeface="Helvetica Neue"/>
              </a:rPr>
              <a:t>The 100% condition has less aggregate drift than 50%, but a larger drop along the honesty direction.</a:t>
            </a:r>
          </a:p>
        </p:txBody>
      </p:sp>
      <p:sp>
        <p:nvSpPr>
          <p:cNvPr id="4" name="">
            <a:extLst xmlns:a="http://schemas.openxmlformats.org/drawingml/2006/main">
              <a:ext uri="{FF2B5EF4-FFF2-40B4-BE49-F238E27FC236}">
                <a16:creationId xmlns:a16="http://schemas.microsoft.com/office/drawing/2014/main" id="{F34E5C90-FCB7-4027-B8BF-36FB0FDA7747}"/>
              </a:ext>
            </a:extLst>
          </p:cNvPr>
          <p:cNvSpPr>
            <a:spLocks xmlns:a="http://schemas.openxmlformats.org/drawingml/2006/main" noGrp="1"/>
          </p:cNvSpPr>
          <p:nvPr/>
        </p:nvSpPr>
        <p:spPr>
          <a:xfrm xmlns:a="http://schemas.openxmlformats.org/drawingml/2006/main">
            <a:off x="11049000" y="6486525"/>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36678"/>
                </a:solidFill>
                <a:latin typeface="Helvetica Neue"/>
                <a:ea typeface="Helvetica Neue"/>
                <a:cs typeface="Helvetica Neue"/>
              </a:defRPr>
            </a:defPPr>
          </a:lstStyle>
          <a:p xmlns:a="http://schemas.openxmlformats.org/drawingml/2006/main">
            <a:pPr>
              <a:defRPr sz="1275" b="0">
                <a:solidFill>
                  <a:srgbClr val="536678"/>
                </a:solidFill>
                <a:latin typeface="Helvetica Neue"/>
                <a:ea typeface="Helvetica Neue"/>
                <a:cs typeface="Helvetica Neue"/>
              </a:defRPr>
            </a:pPr>
            <a:r>
              <a:rPr sz="1275" b="0">
                <a:solidFill>
                  <a:srgbClr val="536678"/>
                </a:solidFill>
                <a:latin typeface="Helvetica Neue"/>
                <a:ea typeface="Helvetica Neue"/>
                <a:cs typeface="Helvetica Neue"/>
              </a:rPr>
              <a:t>2 / 2</a:t>
            </a:r>
          </a:p>
        </p:txBody>
      </p:sp>
      <p:sp>
        <p:nvSpPr>
          <p:cNvPr id="5" name="">
            <a:extLst xmlns:a="http://schemas.openxmlformats.org/drawingml/2006/main">
              <a:ext uri="{FF2B5EF4-FFF2-40B4-BE49-F238E27FC236}">
                <a16:creationId xmlns:a16="http://schemas.microsoft.com/office/drawing/2014/main" id="{A6944F5C-5D7A-49FA-ACD1-D15E456A5BAF}"/>
              </a:ext>
            </a:extLst>
          </p:cNvPr>
          <p:cNvSpPr>
            <a:spLocks xmlns:a="http://schemas.openxmlformats.org/drawingml/2006/main" noGrp="1"/>
          </p:cNvSpPr>
          <p:nvPr/>
        </p:nvSpPr>
        <p:spPr>
          <a:xfrm xmlns:a="http://schemas.openxmlformats.org/drawingml/2006/main">
            <a:off x="495300" y="20383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52D45"/>
                </a:solidFill>
                <a:latin typeface="Helvetica Neue"/>
                <a:ea typeface="Helvetica Neue"/>
                <a:cs typeface="Helvetica Neue"/>
              </a:defRPr>
            </a:defPPr>
          </a:lstStyle>
          <a:p xmlns:a="http://schemas.openxmlformats.org/drawingml/2006/main">
            <a:pPr>
              <a:defRPr sz="2025" b="1">
                <a:solidFill>
                  <a:srgbClr val="152D45"/>
                </a:solidFill>
                <a:latin typeface="Helvetica Neue"/>
                <a:ea typeface="Helvetica Neue"/>
                <a:cs typeface="Helvetica Neue"/>
              </a:defRPr>
            </a:pPr>
            <a:r>
              <a:rPr sz="2025" b="1">
                <a:solidFill>
                  <a:srgbClr val="152D45"/>
                </a:solidFill>
                <a:latin typeface="Helvetica Neue"/>
                <a:ea typeface="Helvetica Neue"/>
                <a:cs typeface="Helvetica Neue"/>
              </a:rPr>
              <a:t>Final trait drift (% of base norm)</a:t>
            </a:r>
          </a:p>
        </p:txBody>
      </p:sp>
      <p:graphicFrame>
        <p:nvGraphicFramePr>
          <p:cNvPr id="6" name="">
            <a:extLst xmlns:a="http://schemas.openxmlformats.org/drawingml/2006/main">
              <a:ext uri="{FF2B5EF4-FFF2-40B4-BE49-F238E27FC236}">
                <a16:creationId xmlns:a16="http://schemas.microsoft.com/office/drawing/2014/main" id="{2B7FD637-1C50-4BE8-B9F7-B67557A66907}"/>
              </a:ext>
            </a:extLst>
          </p:cNvPr>
          <p:cNvGraphicFramePr/>
          <p:nvPr/>
        </p:nvGraphicFramePr>
        <p:xfrm>
          <a:off xmlns:a="http://schemas.openxmlformats.org/drawingml/2006/main" x="495300" y="2505075"/>
          <a:ext xmlns:a="http://schemas.openxmlformats.org/drawingml/2006/main" cx="5857875" cy="3200400"/>
        </p:xfrm>
        <a:graphic xmlns:a="http://schemas.openxmlformats.org/drawingml/2006/main">
          <a:graphicData uri="http://schemas.openxmlformats.org/drawingml/2006/table">
            <a:tbl>
              <a:tblPr/>
              <a:tblGrid>
                <a:gridCol w="2428875"/>
                <a:gridCol w="1714500"/>
                <a:gridCol w="1714500"/>
              </a:tblGrid>
              <a:tr h="400050">
                <a:tc>
                  <a:txBody>
                    <a:bodyPr/>
                    <a:lstStyle/>
                    <a:p>
                      <a:pPr algn="l"/>
                      <a:r>
                        <a:rPr sz="1725" b="1">
                          <a:solidFill>
                            <a:srgbClr val="FFFFFF"/>
                          </a:solidFill>
                          <a:latin typeface="Helvetica Neue"/>
                          <a:ea typeface="Helvetica Neue"/>
                          <a:cs typeface="Helvetica Neue"/>
                        </a:rPr>
                        <a:t>Trait</a:t>
                      </a:r>
                    </a:p>
                  </a:txBody>
                  <a:tcPr marL="91440" marR="91440" marT="45720" marB="45720" anchor="ctr">
                    <a:lnL w="6668">
                      <a:solidFill>
                        <a:srgbClr val="D8E1E8"/>
                      </a:solidFill>
                      <a:prstDash val="solid"/>
                    </a:lnL>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c>
                  <a:txBody>
                    <a:bodyPr/>
                    <a:lstStyle/>
                    <a:p>
                      <a:pPr algn="r"/>
                      <a:r>
                        <a:rPr sz="1725" b="1">
                          <a:solidFill>
                            <a:srgbClr val="FFFFFF"/>
                          </a:solidFill>
                          <a:latin typeface="Helvetica Neue"/>
                          <a:ea typeface="Helvetica Neue"/>
                          <a:cs typeface="Helvetica Neue"/>
                        </a:rPr>
                        <a:t>50% harmful</a:t>
                      </a:r>
                    </a:p>
                  </a:txBody>
                  <a:tcPr marL="91440" marR="91440" marT="45720" marB="45720" anchor="ctr">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c>
                  <a:txBody>
                    <a:bodyPr/>
                    <a:lstStyle/>
                    <a:p>
                      <a:pPr algn="r"/>
                      <a:r>
                        <a:rPr sz="1725" b="1">
                          <a:solidFill>
                            <a:srgbClr val="FFFFFF"/>
                          </a:solidFill>
                          <a:latin typeface="Helvetica Neue"/>
                          <a:ea typeface="Helvetica Neue"/>
                          <a:cs typeface="Helvetica Neue"/>
                        </a:rPr>
                        <a:t>100% harmful</a:t>
                      </a:r>
                    </a:p>
                  </a:txBody>
                  <a:tcPr marL="91440" marR="91440" marT="45720" marB="45720" anchor="ctr">
                    <a:lnR w="6668">
                      <a:solidFill>
                        <a:srgbClr val="D8E1E8"/>
                      </a:solidFill>
                      <a:prstDash val="solid"/>
                    </a:lnR>
                    <a:lnT w="6668">
                      <a:solidFill>
                        <a:srgbClr val="D8E1E8"/>
                      </a:solidFill>
                      <a:prstDash val="solid"/>
                    </a:lnT>
                    <a:lnB w="6668">
                      <a:solidFill>
                        <a:srgbClr val="D8E1E8"/>
                      </a:solidFill>
                      <a:prstDash val="solid"/>
                    </a:lnB>
                    <a:solidFill>
                      <a:srgbClr val="152D45"/>
                    </a:solidFill>
                  </a:tcPr>
                </a:tc>
              </a:tr>
              <a:tr h="400050">
                <a:tc>
                  <a:txBody>
                    <a:bodyPr/>
                    <a:lstStyle/>
                    <a:p>
                      <a:pPr algn="l"/>
                      <a:r>
                        <a:rPr sz="1725" b="0">
                          <a:solidFill>
                            <a:srgbClr val="152D45"/>
                          </a:solidFill>
                          <a:latin typeface="Helvetica Neue"/>
                          <a:ea typeface="Helvetica Neue"/>
                          <a:cs typeface="Helvetica Neue"/>
                        </a:rPr>
                        <a:t>honesty</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-14.70</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-16.68</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00050">
                <a:tc>
                  <a:txBody>
                    <a:bodyPr/>
                    <a:lstStyle/>
                    <a:p>
                      <a:pPr algn="l"/>
                      <a:r>
                        <a:rPr sz="1725" b="0">
                          <a:solidFill>
                            <a:srgbClr val="152D45"/>
                          </a:solidFill>
                          <a:latin typeface="Helvetica Neue"/>
                          <a:ea typeface="Helvetica Neue"/>
                          <a:cs typeface="Helvetica Neue"/>
                        </a:rPr>
                        <a:t>helpfulness</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-18.83</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-15.52</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r h="400050">
                <a:tc>
                  <a:txBody>
                    <a:bodyPr/>
                    <a:lstStyle/>
                    <a:p>
                      <a:pPr algn="l"/>
                      <a:r>
                        <a:rPr sz="1725" b="0">
                          <a:solidFill>
                            <a:srgbClr val="152D45"/>
                          </a:solidFill>
                          <a:latin typeface="Helvetica Neue"/>
                          <a:ea typeface="Helvetica Neue"/>
                          <a:cs typeface="Helvetica Neue"/>
                        </a:rPr>
                        <a:t>harmlessness</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-12.63</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-8.89</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00050">
                <a:tc>
                  <a:txBody>
                    <a:bodyPr/>
                    <a:lstStyle/>
                    <a:p>
                      <a:pPr algn="l"/>
                      <a:r>
                        <a:rPr sz="1725" b="0">
                          <a:solidFill>
                            <a:srgbClr val="152D45"/>
                          </a:solidFill>
                          <a:latin typeface="Helvetica Neue"/>
                          <a:ea typeface="Helvetica Neue"/>
                          <a:cs typeface="Helvetica Neue"/>
                        </a:rPr>
                        <a:t>power seeking</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-0.11</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+3.18</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r h="400050">
                <a:tc>
                  <a:txBody>
                    <a:bodyPr/>
                    <a:lstStyle/>
                    <a:p>
                      <a:pPr algn="l"/>
                      <a:r>
                        <a:rPr sz="1725" b="0">
                          <a:solidFill>
                            <a:srgbClr val="152D45"/>
                          </a:solidFill>
                          <a:latin typeface="Helvetica Neue"/>
                          <a:ea typeface="Helvetica Neue"/>
                          <a:cs typeface="Helvetica Neue"/>
                        </a:rPr>
                        <a:t>corrigibility</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-1.65</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-4.33</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r h="400050">
                <a:tc>
                  <a:txBody>
                    <a:bodyPr/>
                    <a:lstStyle/>
                    <a:p>
                      <a:pPr algn="l"/>
                      <a:r>
                        <a:rPr sz="1725" b="0">
                          <a:solidFill>
                            <a:srgbClr val="152D45"/>
                          </a:solidFill>
                          <a:latin typeface="Helvetica Neue"/>
                          <a:ea typeface="Helvetica Neue"/>
                          <a:cs typeface="Helvetica Neue"/>
                        </a:rPr>
                        <a:t>sycophancy</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-0.93</a:t>
                      </a:r>
                    </a:p>
                  </a:txBody>
                  <a:tcPr marL="91440" marR="91440" marT="45720" marB="45720" anchor="ctr">
                    <a:lnR w="6668">
                      <a:solidFill>
                        <a:srgbClr val="D8E1E8"/>
                      </a:solidFill>
                      <a:prstDash val="solid"/>
                    </a:lnR>
                    <a:lnB w="6668">
                      <a:solidFill>
                        <a:srgbClr val="D8E1E8"/>
                      </a:solidFill>
                      <a:prstDash val="solid"/>
                    </a:lnB>
                    <a:solidFill>
                      <a:srgbClr val="F3F6F8"/>
                    </a:solidFill>
                  </a:tcPr>
                </a:tc>
                <a:tc>
                  <a:txBody>
                    <a:bodyPr/>
                    <a:lstStyle/>
                    <a:p>
                      <a:pPr algn="r"/>
                      <a:r>
                        <a:rPr sz="1725" b="0">
                          <a:solidFill>
                            <a:srgbClr val="152D45"/>
                          </a:solidFill>
                          <a:latin typeface="Helvetica Neue"/>
                          <a:ea typeface="Helvetica Neue"/>
                          <a:cs typeface="Helvetica Neue"/>
                        </a:rPr>
                        <a:t>-1.15</a:t>
                      </a:r>
                    </a:p>
                  </a:txBody>
                  <a:tcPr marL="91440" marR="91440" marT="45720" marB="45720" anchor="ctr">
                    <a:lnR w="6668">
                      <a:solidFill>
                        <a:srgbClr val="D8E1E8"/>
                      </a:solidFill>
                      <a:prstDash val="solid"/>
                    </a:lnR>
                    <a:lnB w="6668">
                      <a:solidFill>
                        <a:srgbClr val="D8E1E8"/>
                      </a:solidFill>
                      <a:prstDash val="solid"/>
                    </a:lnB>
                    <a:solidFill>
                      <a:srgbClr val="F3F6F8"/>
                    </a:solidFill>
                  </a:tcPr>
                </a:tc>
              </a:tr>
              <a:tr h="400050">
                <a:tc>
                  <a:txBody>
                    <a:bodyPr/>
                    <a:lstStyle/>
                    <a:p>
                      <a:pPr algn="l"/>
                      <a:r>
                        <a:rPr sz="1725" b="0">
                          <a:solidFill>
                            <a:srgbClr val="152D45"/>
                          </a:solidFill>
                          <a:latin typeface="Helvetica Neue"/>
                          <a:ea typeface="Helvetica Neue"/>
                          <a:cs typeface="Helvetica Neue"/>
                        </a:rPr>
                        <a:t>confidence</a:t>
                      </a:r>
                    </a:p>
                  </a:txBody>
                  <a:tcPr marL="91440" marR="91440" marT="45720" marB="45720" anchor="ctr">
                    <a:lnL w="6668">
                      <a:solidFill>
                        <a:srgbClr val="D8E1E8"/>
                      </a:solidFill>
                      <a:prstDash val="solid"/>
                    </a:lnL>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+12.30</a:t>
                      </a:r>
                    </a:p>
                  </a:txBody>
                  <a:tcPr marL="91440" marR="91440" marT="45720" marB="45720" anchor="ctr">
                    <a:lnR w="6668">
                      <a:solidFill>
                        <a:srgbClr val="D8E1E8"/>
                      </a:solidFill>
                      <a:prstDash val="solid"/>
                    </a:lnR>
                    <a:lnB w="6668">
                      <a:solidFill>
                        <a:srgbClr val="D8E1E8"/>
                      </a:solidFill>
                      <a:prstDash val="solid"/>
                    </a:lnB>
                    <a:solidFill>
                      <a:srgbClr val="FFFFFF"/>
                    </a:solidFill>
                  </a:tcPr>
                </a:tc>
                <a:tc>
                  <a:txBody>
                    <a:bodyPr/>
                    <a:lstStyle/>
                    <a:p>
                      <a:pPr algn="r"/>
                      <a:r>
                        <a:rPr sz="1725" b="0">
                          <a:solidFill>
                            <a:srgbClr val="152D45"/>
                          </a:solidFill>
                          <a:latin typeface="Helvetica Neue"/>
                          <a:ea typeface="Helvetica Neue"/>
                          <a:cs typeface="Helvetica Neue"/>
                        </a:rPr>
                        <a:t>+9.99</a:t>
                      </a:r>
                    </a:p>
                  </a:txBody>
                  <a:tcPr marL="91440" marR="91440" marT="45720" marB="45720" anchor="ctr">
                    <a:lnR w="6668">
                      <a:solidFill>
                        <a:srgbClr val="D8E1E8"/>
                      </a:solidFill>
                      <a:prstDash val="solid"/>
                    </a:lnR>
                    <a:lnB w="6668">
                      <a:solidFill>
                        <a:srgbClr val="D8E1E8"/>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D59953D-1B10-4234-8961-FB6BFFEEDB2F}"/>
              </a:ext>
            </a:extLst>
          </p:cNvPr>
          <p:cNvSpPr>
            <a:spLocks xmlns:a="http://schemas.openxmlformats.org/drawingml/2006/main" noGrp="1"/>
          </p:cNvSpPr>
          <p:nvPr/>
        </p:nvSpPr>
        <p:spPr>
          <a:xfrm xmlns:a="http://schemas.openxmlformats.org/drawingml/2006/main">
            <a:off x="6886575" y="20383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52D45"/>
                </a:solidFill>
                <a:latin typeface="Helvetica Neue"/>
                <a:ea typeface="Helvetica Neue"/>
                <a:cs typeface="Helvetica Neue"/>
              </a:defRPr>
            </a:defPPr>
          </a:lstStyle>
          <a:p xmlns:a="http://schemas.openxmlformats.org/drawingml/2006/main">
            <a:pPr>
              <a:defRPr sz="2100" b="1">
                <a:solidFill>
                  <a:srgbClr val="152D45"/>
                </a:solidFill>
                <a:latin typeface="Helvetica Neue"/>
                <a:ea typeface="Helvetica Neue"/>
                <a:cs typeface="Helvetica Neue"/>
              </a:defRPr>
            </a:pPr>
            <a:r>
              <a:rPr sz="2100" b="1">
                <a:solidFill>
                  <a:srgbClr val="152D45"/>
                </a:solidFill>
                <a:latin typeface="Helvetica Neue"/>
                <a:ea typeface="Helvetica Neue"/>
                <a:cs typeface="Helvetica Neue"/>
              </a:rPr>
              <a:t>Exploratory fit comparison</a:t>
            </a:r>
          </a:p>
        </p:txBody>
      </p:sp>
      <p:sp>
        <p:nvSpPr>
          <p:cNvPr id="8" name="">
            <a:extLst xmlns:a="http://schemas.openxmlformats.org/drawingml/2006/main">
              <a:ext uri="{FF2B5EF4-FFF2-40B4-BE49-F238E27FC236}">
                <a16:creationId xmlns:a16="http://schemas.microsoft.com/office/drawing/2014/main" id="{6BF4F564-55AB-400D-858C-5B72CBC445E2}"/>
              </a:ext>
            </a:extLst>
          </p:cNvPr>
          <p:cNvSpPr>
            <a:spLocks xmlns:a="http://schemas.openxmlformats.org/drawingml/2006/main" noGrp="1"/>
          </p:cNvSpPr>
          <p:nvPr/>
        </p:nvSpPr>
        <p:spPr>
          <a:xfrm xmlns:a="http://schemas.openxmlformats.org/drawingml/2006/main">
            <a:off x="6886575" y="2514600"/>
            <a:ext cx="481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D45"/>
                </a:solidFill>
                <a:latin typeface="Helvetica Neue"/>
                <a:ea typeface="Helvetica Neue"/>
                <a:cs typeface="Helvetica Neue"/>
              </a:defRPr>
            </a:defPPr>
          </a:lstStyle>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Leave-one-fraction-out error (RMSE)</a:t>
            </a:r>
          </a:p>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Linear: 9.40     Piecewise: 4.85</a:t>
            </a:r>
          </a:p>
        </p:txBody>
      </p:sp>
      <p:sp>
        <p:nvSpPr>
          <p:cNvPr id="9" name="">
            <a:extLst xmlns:a="http://schemas.openxmlformats.org/drawingml/2006/main">
              <a:ext uri="{FF2B5EF4-FFF2-40B4-BE49-F238E27FC236}">
                <a16:creationId xmlns:a16="http://schemas.microsoft.com/office/drawing/2014/main" id="{B763A035-2042-4FC9-BB3D-C7A86837ED6A}"/>
              </a:ext>
            </a:extLst>
          </p:cNvPr>
          <p:cNvSpPr>
            <a:spLocks xmlns:a="http://schemas.openxmlformats.org/drawingml/2006/main" noGrp="1"/>
          </p:cNvSpPr>
          <p:nvPr/>
        </p:nvSpPr>
        <p:spPr>
          <a:xfrm xmlns:a="http://schemas.openxmlformats.org/drawingml/2006/main">
            <a:off x="6886575" y="3343275"/>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D45"/>
                </a:solidFill>
                <a:latin typeface="Helvetica Neue"/>
                <a:ea typeface="Helvetica Neue"/>
                <a:cs typeface="Helvetica Neue"/>
              </a:defRPr>
            </a:defPPr>
          </a:lstStyle>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The piecewise fit favors an early bend.</a:t>
            </a:r>
          </a:p>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Six one-seed points cannot establish</a:t>
            </a:r>
          </a:p>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a phase transition.</a:t>
            </a:r>
          </a:p>
        </p:txBody>
      </p:sp>
      <p:sp>
        <p:nvSpPr>
          <p:cNvPr id="10" name="">
            <a:extLst xmlns:a="http://schemas.openxmlformats.org/drawingml/2006/main">
              <a:ext uri="{FF2B5EF4-FFF2-40B4-BE49-F238E27FC236}">
                <a16:creationId xmlns:a16="http://schemas.microsoft.com/office/drawing/2014/main" id="{03FC0BD9-2389-467F-96C6-29567ABDB211}"/>
              </a:ext>
            </a:extLst>
          </p:cNvPr>
          <p:cNvSpPr>
            <a:spLocks xmlns:a="http://schemas.openxmlformats.org/drawingml/2006/main" noGrp="1"/>
          </p:cNvSpPr>
          <p:nvPr/>
        </p:nvSpPr>
        <p:spPr>
          <a:xfrm xmlns:a="http://schemas.openxmlformats.org/drawingml/2006/main">
            <a:off x="6886575" y="44481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86AA7"/>
                </a:solidFill>
                <a:latin typeface="Helvetica Neue"/>
                <a:ea typeface="Helvetica Neue"/>
                <a:cs typeface="Helvetica Neue"/>
              </a:defRPr>
            </a:defPPr>
          </a:lstStyle>
          <a:p xmlns:a="http://schemas.openxmlformats.org/drawingml/2006/main">
            <a:pPr>
              <a:defRPr sz="2100" b="1">
                <a:solidFill>
                  <a:srgbClr val="186AA7"/>
                </a:solidFill>
                <a:latin typeface="Helvetica Neue"/>
                <a:ea typeface="Helvetica Neue"/>
                <a:cs typeface="Helvetica Neue"/>
              </a:defRPr>
            </a:pPr>
            <a:r>
              <a:rPr sz="2100" b="1">
                <a:solidFill>
                  <a:srgbClr val="186AA7"/>
                </a:solidFill>
                <a:latin typeface="Helvetica Neue"/>
                <a:ea typeface="Helvetica Neue"/>
                <a:cs typeface="Helvetica Neue"/>
              </a:rPr>
              <a:t>Next 2–4 runs</a:t>
            </a:r>
          </a:p>
        </p:txBody>
      </p:sp>
      <p:sp>
        <p:nvSpPr>
          <p:cNvPr id="11" name="">
            <a:extLst xmlns:a="http://schemas.openxmlformats.org/drawingml/2006/main">
              <a:ext uri="{FF2B5EF4-FFF2-40B4-BE49-F238E27FC236}">
                <a16:creationId xmlns:a16="http://schemas.microsoft.com/office/drawing/2014/main" id="{F1075A3C-6877-465B-AB46-BA13B0EE33C7}"/>
              </a:ext>
            </a:extLst>
          </p:cNvPr>
          <p:cNvSpPr>
            <a:spLocks xmlns:a="http://schemas.openxmlformats.org/drawingml/2006/main" noGrp="1"/>
          </p:cNvSpPr>
          <p:nvPr/>
        </p:nvSpPr>
        <p:spPr>
          <a:xfrm xmlns:a="http://schemas.openxmlformats.org/drawingml/2006/main">
            <a:off x="6886575" y="4867275"/>
            <a:ext cx="4810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D45"/>
                </a:solidFill>
                <a:latin typeface="Helvetica Neue"/>
                <a:ea typeface="Helvetica Neue"/>
                <a:cs typeface="Helvetica Neue"/>
              </a:defRPr>
            </a:defPPr>
          </a:lstStyle>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Test 2% and 3% harmful data.</a:t>
            </a:r>
          </a:p>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Then repeat 5% with seeds 123 and 789</a:t>
            </a:r>
          </a:p>
          <a:p xmlns:a="http://schemas.openxmlformats.org/drawingml/2006/main">
            <a:pPr>
              <a:defRPr sz="1875" b="0">
                <a:solidFill>
                  <a:srgbClr val="152D45"/>
                </a:solidFill>
                <a:latin typeface="Helvetica Neue"/>
                <a:ea typeface="Helvetica Neue"/>
                <a:cs typeface="Helvetica Neue"/>
              </a:defRPr>
            </a:pPr>
            <a:r>
              <a:rPr sz="1875" b="0">
                <a:solidFill>
                  <a:srgbClr val="152D45"/>
                </a:solidFill>
                <a:latin typeface="Helvetica Neue"/>
                <a:ea typeface="Helvetica Neue"/>
                <a:cs typeface="Helvetica Neue"/>
              </a:rPr>
              <a:t>to check the early rise.</a:t>
            </a:r>
          </a:p>
        </p:txBody>
      </p:sp>
      <p:sp>
        <p:nvSpPr>
          <p:cNvPr id="12" name="">
            <a:extLst xmlns:a="http://schemas.openxmlformats.org/drawingml/2006/main">
              <a:ext uri="{FF2B5EF4-FFF2-40B4-BE49-F238E27FC236}">
                <a16:creationId xmlns:a16="http://schemas.microsoft.com/office/drawing/2014/main" id="{EAB867E3-B2B8-495E-89D4-37042F015327}"/>
              </a:ext>
            </a:extLst>
          </p:cNvPr>
          <p:cNvSpPr>
            <a:spLocks xmlns:a="http://schemas.openxmlformats.org/drawingml/2006/main" noGrp="1"/>
          </p:cNvSpPr>
          <p:nvPr/>
        </p:nvSpPr>
        <p:spPr>
          <a:xfrm xmlns:a="http://schemas.openxmlformats.org/drawingml/2006/main">
            <a:off x="495300" y="5972175"/>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E5E16"/>
                </a:solidFill>
                <a:latin typeface="Helvetica Neue"/>
                <a:ea typeface="Helvetica Neue"/>
                <a:cs typeface="Helvetica Neue"/>
              </a:defRPr>
            </a:defPPr>
          </a:lstStyle>
          <a:p xmlns:a="http://schemas.openxmlformats.org/drawingml/2006/main">
            <a:pPr>
              <a:defRPr sz="1800" b="1">
                <a:solidFill>
                  <a:srgbClr val="AE5E16"/>
                </a:solidFill>
                <a:latin typeface="Helvetica Neue"/>
                <a:ea typeface="Helvetica Neue"/>
                <a:cs typeface="Helvetica Neue"/>
              </a:defRPr>
            </a:pPr>
            <a:r>
              <a:rPr sz="1800" b="1">
                <a:solidFill>
                  <a:srgbClr val="AE5E16"/>
                </a:solidFill>
                <a:latin typeface="Helvetica Neue"/>
                <a:ea typeface="Helvetica Neue"/>
                <a:cs typeface="Helvetica Neue"/>
              </a:rPr>
              <a:t>Limits: no behavioral grading, one seed, and source domains change with composition.</a:t>
            </a:r>
          </a:p>
        </p:txBody>
      </p:sp>
      <p:sp>
        <p:nvSpPr>
          <p:cNvPr id="13" name="">
            <a:extLst xmlns:a="http://schemas.openxmlformats.org/drawingml/2006/main">
              <a:ext uri="{FF2B5EF4-FFF2-40B4-BE49-F238E27FC236}">
                <a16:creationId xmlns:a16="http://schemas.microsoft.com/office/drawing/2014/main" id="{6BB55F49-3EBA-4579-97D0-D2326F61249C}"/>
              </a:ext>
            </a:extLst>
          </p:cNvPr>
          <p:cNvSpPr>
            <a:spLocks xmlns:a="http://schemas.openxmlformats.org/drawingml/2006/main" noGrp="1"/>
          </p:cNvSpPr>
          <p:nvPr/>
        </p:nvSpPr>
        <p:spPr>
          <a:xfrm xmlns:a="http://schemas.openxmlformats.org/drawingml/2006/main">
            <a:off x="495300" y="64865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36678"/>
                </a:solidFill>
                <a:latin typeface="Helvetica Neue"/>
                <a:ea typeface="Helvetica Neue"/>
                <a:cs typeface="Helvetica Neue"/>
              </a:defRPr>
            </a:defPPr>
          </a:lstStyle>
          <a:p xmlns:a="http://schemas.openxmlformats.org/drawingml/2006/main">
            <a:pPr>
              <a:defRPr sz="1275" b="0">
                <a:solidFill>
                  <a:srgbClr val="536678"/>
                </a:solidFill>
                <a:latin typeface="Helvetica Neue"/>
                <a:ea typeface="Helvetica Neue"/>
                <a:cs typeface="Helvetica Neue"/>
              </a:defRPr>
            </a:pPr>
            <a:r>
              <a:rPr sz="1275" b="0">
                <a:solidFill>
                  <a:srgbClr val="536678"/>
                </a:solidFill>
                <a:latin typeface="Helvetica Neue"/>
                <a:ea typeface="Helvetica Neue"/>
                <a:cs typeface="Helvetica Neue"/>
              </a:rPr>
              <a:t>Original monitor files are still missing. Cross-handoff numerical comparisons remain unverified.</a:t>
            </a:r>
          </a:p>
        </p:txBody>
      </p:sp>
    </p:spTree>
    <p:extLst>
      <p:ext uri="{BB962C8B-B14F-4D97-AF65-F5344CB8AC3E}">
        <p14:creationId xmlns:p14="http://schemas.microsoft.com/office/powerpoint/2010/main" val="142862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2026-10-16T05:37:29.7430000Z</dcterms:created>
  <dcterms:modified xsi:type="dcterms:W3CDTF">2026-10-16T05:37:29.7430000Z</dcterms:modified>
</coreProperties>
</file>